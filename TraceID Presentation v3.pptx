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"/>
            <a:ext cx="3474720" cy="5577840"/>
          </a:xfrm>
          <a:prstGeom prst="rect">
            <a:avLst/>
          </a:prstGeom>
          <a:solidFill>
            <a:srgbClr val="1A3530"/>
          </a:solidFill>
          <a:ln w="12700">
            <a:solidFill>
              <a:srgbClr val="1A35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4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Cameras see.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don't remember.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0428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surveillance detects objects in the moment — but loses all sense of identity the instant an object leaves the frame.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reappears — seconds, minutes, or hours later — it becomes a stranger all over again.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4A1E"/>
                </a:solidFill>
              </a:rPr>
              <a:t>●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820"/>
                </a:solidFill>
              </a:rPr>
              <a:t>●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69264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09E"/>
                </a:solidFill>
              </a:rPr>
              <a:t>●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without identity is just counting.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292608"/>
            <a:ext cx="2743200" cy="4572000"/>
          </a:xfrm>
          <a:prstGeom prst="rect">
            <a:avLst/>
          </a:prstGeom>
          <a:solidFill>
            <a:srgbClr val="223D38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44768" y="292608"/>
            <a:ext cx="2743200" cy="64008"/>
          </a:xfrm>
          <a:prstGeom prst="rect">
            <a:avLst/>
          </a:prstGeom>
          <a:solidFill>
            <a:srgbClr val="C44A1E"/>
          </a:solidFill>
          <a:ln w="12700">
            <a:solidFill>
              <a:srgbClr val="C44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402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Scenario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6208" y="896112"/>
            <a:ext cx="384048" cy="384048"/>
          </a:xfrm>
          <a:prstGeom prst="ellipse">
            <a:avLst/>
          </a:prstGeom>
          <a:solidFill>
            <a:srgbClr val="6AB54A">
              <a:alpha val="25000"/>
            </a:srgbClr>
          </a:solidFill>
          <a:ln w="12700">
            <a:solidFill>
              <a:srgbClr val="6AB5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9144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enters the mall. Camera A detects them.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36208" y="1600200"/>
            <a:ext cx="384048" cy="384048"/>
          </a:xfrm>
          <a:prstGeom prst="ellipse">
            <a:avLst/>
          </a:prstGeom>
          <a:solidFill>
            <a:srgbClr val="6B8C8A">
              <a:alpha val="25000"/>
            </a:srgbClr>
          </a:solidFill>
          <a:ln w="12700">
            <a:solidFill>
              <a:srgbClr val="6B8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🚪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6184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step into a shop and vanish from all cameras.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36208" y="2304288"/>
            <a:ext cx="384048" cy="384048"/>
          </a:xfrm>
          <a:prstGeom prst="ellipse">
            <a:avLst/>
          </a:prstGeom>
          <a:solidFill>
            <a:srgbClr val="6AB54A">
              <a:alpha val="25000"/>
            </a:srgbClr>
          </a:solidFill>
          <a:ln w="12700">
            <a:solidFill>
              <a:srgbClr val="6AB5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232257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reappear on Camera B — across the building.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36208" y="3008376"/>
            <a:ext cx="384048" cy="384048"/>
          </a:xfrm>
          <a:prstGeom prst="ellipse">
            <a:avLst/>
          </a:prstGeom>
          <a:solidFill>
            <a:srgbClr val="C44A1E">
              <a:alpha val="25000"/>
            </a:srgbClr>
          </a:solidFill>
          <a:ln w="12700">
            <a:solidFill>
              <a:srgbClr val="C44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026664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systems: brand-new unknown. No link made.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36208" y="3712464"/>
            <a:ext cx="384048" cy="384048"/>
          </a:xfrm>
          <a:prstGeom prst="ellipse">
            <a:avLst/>
          </a:prstGeom>
          <a:solidFill>
            <a:srgbClr val="3A9E2B">
              <a:alpha val="25000"/>
            </a:srgbClr>
          </a:solidFill>
          <a:ln w="12700">
            <a:solidFill>
              <a:srgbClr val="3A9E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73075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TraceID: same fingerprint. Same identity restored.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514A"/>
          </a:solidFill>
          <a:ln w="12700">
            <a:solidFill>
              <a:srgbClr val="1E5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layers. One intelligent system.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1261872"/>
            <a:ext cx="2743200" cy="3520440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4718304"/>
            <a:ext cx="2743200" cy="64008"/>
          </a:xfrm>
          <a:prstGeom prst="rect">
            <a:avLst/>
          </a:prstGeom>
          <a:solidFill>
            <a:srgbClr val="3A9E2B"/>
          </a:solidFill>
          <a:ln w="12700">
            <a:solidFill>
              <a:srgbClr val="3A9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26464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9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05456" y="14264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5216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3A9E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LAYER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5216" y="22677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Everything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" y="2798064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is scanned in real time. The system finds every person, car, truck, bus, and motorcycle — precisely locating and classifying each one before anything else happens.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5264" y="1261872"/>
            <a:ext cx="2743200" cy="3520440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4718304"/>
            <a:ext cx="2743200" cy="64008"/>
          </a:xfrm>
          <a:prstGeom prst="rect">
            <a:avLst/>
          </a:prstGeom>
          <a:solidFill>
            <a:srgbClr val="D4A820"/>
          </a:solidFill>
          <a:ln w="12700">
            <a:solidFill>
              <a:srgbClr val="D4A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1426464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58384" y="14264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38144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TRACKING LAYER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38144" y="22677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 the Motion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38144" y="2798064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objects are followed frame-by-frame, keeping a stable label as long as they stay visible. This is short-term memory — reliable while the object is in view, but temporary.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08192" y="1261872"/>
            <a:ext cx="2743200" cy="3520440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08192" y="4718304"/>
            <a:ext cx="2743200" cy="64008"/>
          </a:xfrm>
          <a:prstGeom prst="rect">
            <a:avLst/>
          </a:prstGeom>
          <a:solidFill>
            <a:srgbClr val="C44A1E"/>
          </a:solidFill>
          <a:ln w="12700">
            <a:solidFill>
              <a:srgbClr val="C44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426464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4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11312" y="14264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91072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44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RE-ID LAYER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91072" y="22677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 the Identity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91072" y="2798064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innovation. Each object's visual appearance is compressed into a unique fingerprint. When it reappears — anywhere, anytime — that fingerprint is matched against the database. Identity is restored instantly.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appearance is a fingerprint. TraceID doesn't just track location — it tracks identity.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514A"/>
          </a:solidFill>
          <a:ln w="12700">
            <a:solidFill>
              <a:srgbClr val="1E5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MATTERS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impact across security,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mobility, and public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4005072" cy="1572768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63040"/>
            <a:ext cx="54864" cy="1572768"/>
          </a:xfrm>
          <a:prstGeom prst="rect">
            <a:avLst/>
          </a:prstGeom>
          <a:solidFill>
            <a:srgbClr val="C44A1E"/>
          </a:solidFill>
          <a:ln w="12700">
            <a:solidFill>
              <a:srgbClr val="C44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62456" y="1591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Surveillance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057400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persons of interest across an entire multi-camera network. An alert on Camera 1 automatically links to any later sighting — no manual effort, no missed connections.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4005072" cy="1572768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63040"/>
            <a:ext cx="54864" cy="1572768"/>
          </a:xfrm>
          <a:prstGeom prst="rect">
            <a:avLst/>
          </a:prstGeom>
          <a:solidFill>
            <a:srgbClr val="3A9E2B"/>
          </a:solidFill>
          <a:ln w="12700">
            <a:solidFill>
              <a:srgbClr val="3A9E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77256" y="1591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2057400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pedestrian and vehicle movement across districts — not just single camera zones. Understand real flow patterns and respond to incidents as they unfold across the city.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163824"/>
            <a:ext cx="4005072" cy="1572768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163824"/>
            <a:ext cx="54864" cy="1572768"/>
          </a:xfrm>
          <a:prstGeom prst="rect">
            <a:avLst/>
          </a:prstGeom>
          <a:solidFill>
            <a:srgbClr val="D4A820"/>
          </a:solidFill>
          <a:ln w="12700">
            <a:solidFill>
              <a:srgbClr val="D4A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310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62456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&amp; Transport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3758184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Re-identify specific vehicles as they move through intersections and zones. Useful for incident response, congestion analysis, and tracking across tunnel or toll networks.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163824"/>
            <a:ext cx="4005072" cy="1572768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63824"/>
            <a:ext cx="54864" cy="1572768"/>
          </a:xfrm>
          <a:prstGeom prst="rect">
            <a:avLst/>
          </a:prstGeom>
          <a:solidFill>
            <a:srgbClr val="6B8C8A"/>
          </a:solidFill>
          <a:ln w="12700">
            <a:solidFill>
              <a:srgbClr val="6B8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310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77256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 &amp; Public Spaces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3758184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dwell time, repeat visits, and movement paths inside large venues. Helps operators optimise layouts and respond faster to incidents — without storing personal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4681728"/>
            <a:ext cx="2084832" cy="384048"/>
          </a:xfrm>
          <a:prstGeom prst="rect">
            <a:avLst/>
          </a:prstGeom>
          <a:solidFill>
            <a:srgbClr val="1E514A"/>
          </a:solidFill>
          <a:ln w="12700">
            <a:solidFill>
              <a:srgbClr val="4B5C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46817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  </a:t>
            </a:r>
            <a:pPr indent="0" marL="0">
              <a:buNone/>
            </a:pPr>
            <a:r>
              <a:rPr lang="en-US" sz="8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62072" y="4681728"/>
            <a:ext cx="2084832" cy="384048"/>
          </a:xfrm>
          <a:prstGeom prst="rect">
            <a:avLst/>
          </a:prstGeom>
          <a:solidFill>
            <a:srgbClr val="1E514A"/>
          </a:solidFill>
          <a:ln w="12700">
            <a:solidFill>
              <a:srgbClr val="4B5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0088" y="46817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 </a:t>
            </a:r>
            <a:pPr indent="0" marL="0">
              <a:buNone/>
            </a:pPr>
            <a:r>
              <a:rPr lang="en-US" sz="8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Cross-zone identity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38344" y="4681728"/>
            <a:ext cx="2084832" cy="384048"/>
          </a:xfrm>
          <a:prstGeom prst="rect">
            <a:avLst/>
          </a:prstGeom>
          <a:solidFill>
            <a:srgbClr val="1E514A"/>
          </a:solidFill>
          <a:ln w="12700">
            <a:solidFill>
              <a:srgbClr val="4B5C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46817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 </a:t>
            </a:r>
            <a:pPr indent="0" marL="0">
              <a:buNone/>
            </a:pPr>
            <a:r>
              <a:rPr lang="en-US" sz="8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 on reappearance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14616" y="4681728"/>
            <a:ext cx="2084832" cy="384048"/>
          </a:xfrm>
          <a:prstGeom prst="rect">
            <a:avLst/>
          </a:prstGeom>
          <a:solidFill>
            <a:srgbClr val="1E514A"/>
          </a:solidFill>
          <a:ln w="12700">
            <a:solidFill>
              <a:srgbClr val="4B5C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632" y="46817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+ Vehicle  </a:t>
            </a:r>
            <a:pPr indent="0" marL="0">
              <a:buNone/>
            </a:pPr>
            <a:r>
              <a:rPr lang="en-US" sz="85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 classes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1E514A"/>
          </a:solidFill>
          <a:ln w="12700">
            <a:solidFill>
              <a:srgbClr val="1E5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B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DIFFERENT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4572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the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world.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4572000" cy="676656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75104"/>
            <a:ext cx="402336" cy="402336"/>
          </a:xfrm>
          <a:prstGeom prst="ellipse">
            <a:avLst/>
          </a:prstGeom>
          <a:solidFill>
            <a:srgbClr val="3A9E2B">
              <a:alpha val="22000"/>
            </a:srgbClr>
          </a:solidFill>
          <a:ln w="12700">
            <a:solidFill>
              <a:srgbClr val="3A9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 as Identity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defined by how something looks — not where it is or which camera sees it. A vehicle changing lanes or a person turning around is still recognised.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4572000" cy="676656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743200"/>
            <a:ext cx="402336" cy="402336"/>
          </a:xfrm>
          <a:prstGeom prst="ellipse">
            <a:avLst/>
          </a:prstGeom>
          <a:solidFill>
            <a:srgbClr val="D4A820">
              <a:alpha val="22000"/>
            </a:srgbClr>
          </a:solidFill>
          <a:ln w="12700">
            <a:solidFill>
              <a:srgbClr val="D4A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Cross-Camera Continuity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identity is created, it persists across the entire camera network automatically. No manual linking, no repeated alerts for the same individual.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572000" cy="676656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511296"/>
            <a:ext cx="402336" cy="402336"/>
          </a:xfrm>
          <a:prstGeom prst="ellipse">
            <a:avLst/>
          </a:prstGeom>
          <a:solidFill>
            <a:srgbClr val="6AB54A">
              <a:alpha val="22000"/>
            </a:srgbClr>
          </a:solidFill>
          <a:ln w="12700">
            <a:solidFill>
              <a:srgbClr val="6AB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Persons AND Vehicles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specialised models — one for people, one for vehicles. Each type is matched with the right tools, not forced through a single generic approach.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4572000" cy="676656"/>
          </a:xfrm>
          <a:prstGeom prst="rect">
            <a:avLst/>
          </a:prstGeom>
          <a:solidFill>
            <a:srgbClr val="1A3530"/>
          </a:solidFill>
          <a:ln w="12700">
            <a:solidFill>
              <a:srgbClr val="4B5C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279392"/>
            <a:ext cx="402336" cy="402336"/>
          </a:xfrm>
          <a:prstGeom prst="ellipse">
            <a:avLst/>
          </a:prstGeom>
          <a:solidFill>
            <a:srgbClr val="6B8C8A">
              <a:alpha val="22000"/>
            </a:srgbClr>
          </a:solidFill>
          <a:ln w="12700">
            <a:solidFill>
              <a:srgbClr val="6B8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4215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by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4480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specialist model isn't available, the system falls back gracefully. It always produces a result — no crashes, no silent gaps in tracking.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502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96012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CC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ask:</a:t>
            </a:r>
            <a:endParaRPr lang="en-US" sz="1100" dirty="0"/>
          </a:p>
          <a:p>
            <a:pPr indent="0" marL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CC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in this frame?"</a:t>
            </a:r>
            <a:endParaRPr lang="en-US" sz="1100" dirty="0"/>
          </a:p>
          <a:p>
            <a:pPr indent="0" marL="0">
              <a:lnSpc>
                <a:spcPct val="148000"/>
              </a:lnSpc>
              <a:buNone/>
            </a:pPr>
            <a:endParaRPr lang="en-US" sz="1100" dirty="0"/>
          </a:p>
          <a:p>
            <a:pPr indent="0" marL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CC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asks:</a:t>
            </a:r>
            <a:endParaRPr lang="en-US" sz="1100" dirty="0"/>
          </a:p>
          <a:p>
            <a:pPr indent="0" marL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CC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this — and where have I seen them before?"</a:t>
            </a:r>
            <a:endParaRPr lang="en-US" sz="1100" dirty="0"/>
          </a:p>
          <a:p>
            <a:pPr indent="0" marL="0">
              <a:lnSpc>
                <a:spcPct val="148000"/>
              </a:lnSpc>
              <a:buNone/>
            </a:pPr>
            <a:endParaRPr lang="en-US" sz="1100" dirty="0"/>
          </a:p>
          <a:p>
            <a:pPr indent="0" marL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CC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shift transforms passive surveillance into an active, intelligent memory.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9240" y="3456432"/>
            <a:ext cx="3566160" cy="1508760"/>
          </a:xfrm>
          <a:prstGeom prst="rect">
            <a:avLst/>
          </a:prstGeom>
          <a:solidFill>
            <a:srgbClr val="3A9E2B">
              <a:alpha val="12000"/>
            </a:srgbClr>
          </a:solidFill>
          <a:ln w="19050">
            <a:solidFill>
              <a:srgbClr val="3A9E2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40680" y="3520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8D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8D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8D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memory.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TraceID – Multi-Object Re-Identification</dc:title>
  <dc:subject>PptxGenJS Presentation</dc:subject>
  <dc:creator>PptxGenJS</dc:creator>
  <cp:lastModifiedBy>PptxGenJS</cp:lastModifiedBy>
  <cp:revision>1</cp:revision>
  <dcterms:created xsi:type="dcterms:W3CDTF">2026-04-27T09:17:49Z</dcterms:created>
  <dcterms:modified xsi:type="dcterms:W3CDTF">2026-04-27T09:17:49Z</dcterms:modified>
</cp:coreProperties>
</file>